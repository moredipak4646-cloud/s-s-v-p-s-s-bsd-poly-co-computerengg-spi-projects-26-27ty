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76" r:id="rId7"/>
    <p:sldId id="261" r:id="rId8"/>
    <p:sldId id="273" r:id="rId9"/>
    <p:sldId id="274" r:id="rId10"/>
    <p:sldId id="275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7" r:id="rId22"/>
    <p:sldId id="272" r:id="rId2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4EFEF9-CCEB-4B13-BAC7-551948160362}" v="22" dt="2026-10-16T07:38:37.212"/>
  </p1510:revLst>
</p1510:revInfo>
</file>

<file path=ppt/tableStyles.xml><?xml version="1.0" encoding="utf-8"?>
<a:tblStyleLst xmlns:a="http://schemas.openxmlformats.org/drawingml/2006/main" def="{98077A5B-8C0D-40D8-8557-44EC33DBB8F6}">
  <a:tblStyle styleId="{98077A5B-8C0D-40D8-8557-44EC33DBB8F6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0" name="Google Shape;420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1" name="Google Shape;421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3" name="Google Shape;423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4" name="Google Shape;424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5ae31baec559f25e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g5ae31baec559f25e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4" name="Google Shape;43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  <a:defRPr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3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0" name="Google Shape;44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3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50" name="Google Shape;45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2" name="Google Shape;45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56" name="Google Shape;45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57" name="Google Shape;45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9" name="Google Shape;45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3" name="Google Shape;46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4" name="Google Shape;46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5" name="Google Shape;46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6" name="Google Shape;46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3" name="Google Shape;47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6" name="Google Shape;47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77" name="Google Shape;47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78" name="Google Shape;47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9" name="Google Shape;47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84" name="Google Shape;48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85" name="Google Shape;48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6" name="Google Shape;48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7" name="Google Shape;48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11"/>
          <p:cNvSpPr txBox="1">
            <a:spLocks noGrp="1"/>
          </p:cNvSpPr>
          <p:nvPr>
            <p:ph type="body" idx="1"/>
          </p:nvPr>
        </p:nvSpPr>
        <p:spPr>
          <a:xfrm rot="5400000">
            <a:off x="1981200" y="-457200"/>
            <a:ext cx="5181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1" name="Google Shape;49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2" name="Google Shape;49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3" name="Google Shape;49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2"/>
          <p:cNvSpPr txBox="1">
            <a:spLocks noGrp="1"/>
          </p:cNvSpPr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12"/>
          <p:cNvSpPr txBox="1">
            <a:spLocks noGrp="1"/>
          </p:cNvSpPr>
          <p:nvPr>
            <p:ph type="body" idx="1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7" name="Google Shape;49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7" name="Google Shape;427;p1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28" name="Google Shape;42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29" name="Google Shape;42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30" name="Google Shape;43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ar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Augmented_reality" TargetMode="External"/><Relationship Id="rId4" Type="http://schemas.openxmlformats.org/officeDocument/2006/relationships/hyperlink" Target="https://developer.apple.com/augmented-reality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4" name="Google Shape;504;p13"/>
          <p:cNvGraphicFramePr/>
          <p:nvPr>
            <p:extLst>
              <p:ext uri="{D42A27DB-BD31-4B8C-83A1-F6EECF244321}">
                <p14:modId xmlns:p14="http://schemas.microsoft.com/office/powerpoint/2010/main" val="13705927"/>
              </p:ext>
            </p:extLst>
          </p:nvPr>
        </p:nvGraphicFramePr>
        <p:xfrm>
          <a:off x="228600" y="304800"/>
          <a:ext cx="8639525" cy="5535355"/>
        </p:xfrm>
        <a:graphic>
          <a:graphicData uri="http://schemas.openxmlformats.org/drawingml/2006/table">
            <a:tbl>
              <a:tblPr firstRow="1" bandRow="1">
                <a:noFill/>
                <a:tableStyleId>{98077A5B-8C0D-40D8-8557-44EC33DBB8F6}</a:tableStyleId>
              </a:tblPr>
              <a:tblGrid>
                <a:gridCol w="147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9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52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lt1"/>
                          </a:solidFill>
                        </a:rPr>
                        <a:t>S.S.V.P.S’s B. S. </a:t>
                      </a:r>
                      <a:r>
                        <a:rPr lang="en-US" sz="2400" u="none" strike="noStrike" cap="none" dirty="0" err="1">
                          <a:solidFill>
                            <a:schemeClr val="lt1"/>
                          </a:solidFill>
                        </a:rPr>
                        <a:t>Deore</a:t>
                      </a:r>
                      <a:r>
                        <a:rPr lang="en-US" sz="2400" u="none" strike="noStrike" cap="none" dirty="0">
                          <a:solidFill>
                            <a:schemeClr val="lt1"/>
                          </a:solidFill>
                        </a:rPr>
                        <a:t> Polytechnic, Dhule</a:t>
                      </a:r>
                      <a:endParaRPr sz="2800" u="none" strike="noStrike" cap="none" dirty="0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lt1"/>
                          </a:solidFill>
                        </a:rPr>
                        <a:t>Department of Computer Engineering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200" b="0" i="1" u="none" strike="noStrike" cap="none" dirty="0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1" u="none" strike="noStrike" cap="none" dirty="0">
                          <a:solidFill>
                            <a:schemeClr val="lt1"/>
                          </a:solidFill>
                        </a:rPr>
                        <a:t>Academic Year : </a:t>
                      </a:r>
                      <a:r>
                        <a:rPr lang="en-US" sz="2800" b="0" i="1" dirty="0"/>
                        <a:t>2026-2027</a:t>
                      </a:r>
                      <a:endParaRPr sz="3200" b="0" i="1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225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SEMINAR AND PROJECT INITIATION COURSE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55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100"/>
                        <a:buFont typeface="Times New Roman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FF0000"/>
                          </a:solidFill>
                        </a:rPr>
                        <a:t>Sem : CO 5 K</a:t>
                      </a:r>
                      <a:endParaRPr sz="21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SPI – 315003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100"/>
                        <a:buFont typeface="Times New Roman"/>
                        <a:buNone/>
                      </a:pPr>
                      <a:r>
                        <a:rPr lang="en-US" sz="2100" b="1" i="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Date  : 17/10/2026</a:t>
                      </a:r>
                      <a:endParaRPr sz="2100" b="1" u="none" strike="noStrike" cap="none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55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chemeClr val="dk2"/>
                          </a:solidFill>
                        </a:rPr>
                        <a:t>Topic :</a:t>
                      </a:r>
                      <a:r>
                        <a:rPr lang="en-US" sz="2000" b="1" i="0" dirty="0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Augmented Reality in Education: Applications, Benefits and Challenges</a:t>
                      </a:r>
                      <a:endParaRPr sz="24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5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Roll No.</a:t>
                      </a:r>
                      <a:endParaRPr sz="2400" b="1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u="none" strike="noStrike" cap="none"/>
                        <a:t>Name of Student</a:t>
                      </a:r>
                      <a:endParaRPr sz="2400" b="1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5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43</a:t>
                      </a:r>
                      <a:endParaRPr sz="20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Deepak Bhikaji More</a:t>
                      </a:r>
                      <a:endParaRPr sz="18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5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36</a:t>
                      </a:r>
                      <a:endParaRPr sz="20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Manjeet Haresh Kundal</a:t>
                      </a:r>
                      <a:endParaRPr sz="18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85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38</a:t>
                      </a:r>
                      <a:endParaRPr sz="2200" b="1">
                        <a:solidFill>
                          <a:schemeClr val="dk2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Bhumi Rajesh Mahajan</a:t>
                      </a:r>
                      <a:endParaRPr sz="180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05" name="Google Shape;505;p13" descr="ssvps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457200"/>
            <a:ext cx="1219200" cy="1627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4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Abstract 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Introduction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Literature Survey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Information to Seminar topic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Advantages and Disadvantages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Conclusion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Project Initiation : </a:t>
            </a:r>
            <a:endParaRPr dirty="0"/>
          </a:p>
          <a:p>
            <a:pPr marL="742950" lvl="0" indent="0" algn="l" rtl="0"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800" dirty="0"/>
              <a:t>6. 1 Description of problem statement.</a:t>
            </a:r>
            <a:endParaRPr sz="2800" dirty="0"/>
          </a:p>
          <a:p>
            <a:pPr marL="742950" lvl="0" indent="0" algn="l" rtl="0"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800" dirty="0"/>
              <a:t>6. 2 Scope and objectives.</a:t>
            </a:r>
            <a:endParaRPr sz="2800" dirty="0"/>
          </a:p>
          <a:p>
            <a:pPr marL="742950" lvl="0" indent="0" algn="l" rtl="0"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800" dirty="0"/>
              <a:t>6. 3 Stake holder</a:t>
            </a:r>
            <a:endParaRPr sz="2800" dirty="0"/>
          </a:p>
          <a:p>
            <a:pPr marL="742950" lvl="0" indent="0" algn="l" rtl="0"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800" dirty="0"/>
              <a:t>6.4 Seminar execution plan</a:t>
            </a:r>
            <a:endParaRPr sz="2800" dirty="0"/>
          </a:p>
          <a:p>
            <a:pPr marL="742950" lvl="0" indent="0" algn="l" rtl="0"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800" dirty="0"/>
              <a:t>6.5 Platform/ Equipment/ Resources identification.</a:t>
            </a:r>
            <a:endParaRPr sz="2800"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Bibliography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References</a:t>
            </a:r>
            <a:endParaRPr dirty="0"/>
          </a:p>
          <a:p>
            <a:pPr marL="342900" lvl="0" indent="-18542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sp>
        <p:nvSpPr>
          <p:cNvPr id="511" name="Google Shape;511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512" name="Google Shape;512;p14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Abstract</a:t>
            </a:r>
            <a:endParaRPr/>
          </a:p>
        </p:txBody>
      </p:sp>
      <p:sp>
        <p:nvSpPr>
          <p:cNvPr id="518" name="Google Shape;518;p15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Augmented Reality (AR) adds 3D models, text and videos on top of the real world using a phone, tablet or AR glasses.</a:t>
            </a:r>
          </a:p>
          <a:p>
            <a:pPr marL="285750" indent="-28575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In education, AR helps students see difficult topics (like the human heart or the solar system) instead of only reading about them.</a:t>
            </a:r>
          </a:p>
          <a:p>
            <a:pPr marL="285750" indent="-28575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This seminar explains the applications, benefits and challenges of AR in education.</a:t>
            </a:r>
          </a:p>
          <a:p>
            <a:pPr marL="285750" indent="-28575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Cost, teacher training and distraction are the main challenges for using AR in schools.</a:t>
            </a:r>
          </a:p>
        </p:txBody>
      </p:sp>
      <p:sp>
        <p:nvSpPr>
          <p:cNvPr id="519" name="Google Shape;519;p15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1. Introduction</a:t>
            </a:r>
            <a:endParaRPr/>
          </a:p>
        </p:txBody>
      </p:sp>
      <p:sp>
        <p:nvSpPr>
          <p:cNvPr id="525" name="Google Shape;525;p16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What is AR? </a:t>
            </a: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Technology that shows digital objects on top of the real world in real time.</a:t>
            </a:r>
          </a:p>
          <a:p>
            <a:pPr marL="285750" indent="-2857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How does it work? </a:t>
            </a: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The phone camera and sensors find the place, and the app shows 3D content on the screen.</a:t>
            </a:r>
          </a:p>
          <a:p>
            <a:pPr marL="285750" indent="-2857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Example: </a:t>
            </a: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 student points a phone at a cell picture in the book and a 3D cell appears and can be rotated.</a:t>
            </a:r>
          </a:p>
          <a:p>
            <a:pPr marL="285750" indent="-2857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Why in education? </a:t>
            </a: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Many topics are hard to imagine from books and boards only.</a:t>
            </a:r>
          </a:p>
          <a:p>
            <a:pPr marL="285750" indent="-2857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Our topic: </a:t>
            </a: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Applications, benefits and challenges of AR in education.</a:t>
            </a:r>
          </a:p>
        </p:txBody>
      </p:sp>
      <p:sp>
        <p:nvSpPr>
          <p:cNvPr id="526" name="Google Shape;526;p16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 dirty="0"/>
              <a:t>2. Literature Survey </a:t>
            </a:r>
            <a:endParaRPr dirty="0"/>
          </a:p>
        </p:txBody>
      </p:sp>
      <p:sp>
        <p:nvSpPr>
          <p:cNvPr id="533" name="Google Shape;533;p17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aphicFrame>
        <p:nvGraphicFramePr>
          <p:cNvPr id="901" name="Table 901"/>
          <p:cNvGraphicFramePr/>
          <p:nvPr/>
        </p:nvGraphicFramePr>
        <p:xfrm>
          <a:off x="457200" y="1400000"/>
          <a:ext cx="8229600" cy="4902250"/>
        </p:xfrm>
        <a:graphic>
          <a:graphicData uri="http://schemas.openxmlformats.org/drawingml/2006/table">
            <a:tbl>
              <a:tblPr firstRow="1"/>
              <a:tblGrid>
                <a:gridCol w="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Sr.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and Year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Method used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Finding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Milgram and Kishino, 1994 [1]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Defined the reality–virtuality continuum for mixed reality displays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Shows where AR lies between real and virtual worlds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Azuma, 1997 [2]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Survey that defined AR by three features (real + virtual, live, 3D)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Gave the standard definition of AR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Billinghurst and Kato, 2002 [3]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Studied collaborative AR for face-to-face and remote work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 helps groups work and learn together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Kaufmann and Schmalstieg, 2003 [4]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Construct3D: AR tool for geometry teaching with students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Students could see and build 3D shapes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Dunleavy et al., 2009 [5]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 simulations for teaching and learning in classrooms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Engaging, but technical and classroom problems found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Wu et al., 2013 [6]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Review of AR roles, approaches and issues in education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Showed AR chances and challenges for teaching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 dirty="0"/>
              <a:t>2. Literature Survey </a:t>
            </a:r>
            <a:endParaRPr dirty="0"/>
          </a:p>
        </p:txBody>
      </p:sp>
      <p:sp>
        <p:nvSpPr>
          <p:cNvPr id="533" name="Google Shape;533;p17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graphicFrame>
        <p:nvGraphicFramePr>
          <p:cNvPr id="901" name="Table 901"/>
          <p:cNvGraphicFramePr/>
          <p:nvPr>
            <p:extLst>
              <p:ext uri="{D42A27DB-BD31-4B8C-83A1-F6EECF244321}">
                <p14:modId xmlns:p14="http://schemas.microsoft.com/office/powerpoint/2010/main" val="4270949944"/>
              </p:ext>
            </p:extLst>
          </p:nvPr>
        </p:nvGraphicFramePr>
        <p:xfrm>
          <a:off x="457200" y="1400000"/>
          <a:ext cx="8229600" cy="5006750"/>
        </p:xfrm>
        <a:graphic>
          <a:graphicData uri="http://schemas.openxmlformats.org/drawingml/2006/table">
            <a:tbl>
              <a:tblPr firstRow="1"/>
              <a:tblGrid>
                <a:gridCol w="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Sr.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and Year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Method used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Finding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accent1"/>
                      </a:solidFill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Bacca et al., 2014 [7]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Systematic review of AR trends in education research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Motivation and learning gain are main benefits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accent1"/>
                      </a:solidFill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Radu, 2014 [8]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Meta-review of AR learning studies with cross-media analysis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Better learning and interest, but attention and usability issues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accent1"/>
                      </a:solidFill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Diegmann et al., 2015 [9]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Literature review of benefits of AR in education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Grouped benefits like motivation and better understanding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accent1"/>
                      </a:solidFill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Akçayır and Akçayır, 2017 [10]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Systematic review of advantages and challenges of AR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Better achievement and attitude; usability and cost problems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accent1"/>
                      </a:solidFill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Ibáñez and Delgado-Kloos, 2018 [11]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Systematic review of AR for STEM learning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Positive results; more teaching guidance needed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5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accent1"/>
                      </a:solidFill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Garzón et al., 2019 [12]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Meta-analysis of AR in educational settings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 has a medium positive effect on learning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3. Information to seminar topic</a:t>
            </a:r>
            <a:endParaRPr/>
          </a:p>
        </p:txBody>
      </p:sp>
      <p:sp>
        <p:nvSpPr>
          <p:cNvPr id="539" name="Google Shape;539;p1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What is Augmented Reality?</a:t>
            </a:r>
          </a:p>
          <a:p>
            <a:pPr mar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1. AR adds digital things (3D models, text, video) to the real world.</a:t>
            </a:r>
          </a:p>
          <a:p>
            <a:pPr mar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2. It works live on a phone, tablet or AR glasses.</a:t>
            </a:r>
          </a:p>
          <a:p>
            <a:pPr mar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3. The student still sees the real classroom.</a:t>
            </a:r>
          </a:p>
          <a:p>
            <a:pPr mar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4. VR replaces the real world, but AR only adds to it.</a:t>
            </a:r>
          </a:p>
          <a:p>
            <a:pPr marL="0" indent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Types of AR</a:t>
            </a:r>
          </a:p>
          <a:p>
            <a:pPr marL="285750" indent="-28575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Marker-based – camera scans an image or QR code</a:t>
            </a:r>
          </a:p>
          <a:p>
            <a:pPr marL="285750" indent="-28575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Markerless – uses GPS and sensors, no marker</a:t>
            </a:r>
          </a:p>
          <a:p>
            <a:pPr marL="285750" indent="-28575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Location-based – shows content at a place, e.g. field trips</a:t>
            </a:r>
          </a:p>
        </p:txBody>
      </p:sp>
      <p:sp>
        <p:nvSpPr>
          <p:cNvPr id="540" name="Google Shape;540;p18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3.1 Applications of AR in education</a:t>
            </a:r>
          </a:p>
        </p:txBody>
      </p:sp>
      <p:sp>
        <p:nvSpPr>
          <p:cNvPr id="539" name="Google Shape;539;p1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AR is used in many subjects:</a:t>
            </a:r>
          </a:p>
          <a:p>
            <a:pPr marL="285750" indent="-28575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Science </a:t>
            </a: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– see 3D models of cells, organs and planets.</a:t>
            </a:r>
          </a:p>
          <a:p>
            <a:pPr marL="285750" indent="-28575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Mathematics </a:t>
            </a: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– see geometry shapes in 3D and rotate them.</a:t>
            </a:r>
          </a:p>
          <a:p>
            <a:pPr marL="285750" indent="-28575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Medical and engineering </a:t>
            </a: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– practise on virtual body parts and machines.</a:t>
            </a:r>
          </a:p>
          <a:p>
            <a:pPr marL="285750" indent="-28575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History and geography </a:t>
            </a: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– bring monuments and maps to life.</a:t>
            </a:r>
          </a:p>
          <a:p>
            <a:pPr marL="285750" indent="-28575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Language and kids </a:t>
            </a: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– AR flashcards and story books.</a:t>
            </a:r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Students learn by seeing and interacting, not only by reading.</a:t>
            </a:r>
          </a:p>
        </p:txBody>
      </p:sp>
      <p:sp>
        <p:nvSpPr>
          <p:cNvPr id="540" name="Google Shape;540;p18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 algn="ctr">
              <a:buNone/>
            </a:pPr>
            <a:r>
              <a:rPr lang="en-US"/>
              <a:t>3.2 How AR works in a classroom</a:t>
            </a:r>
          </a:p>
        </p:txBody>
      </p:sp>
      <p:sp>
        <p:nvSpPr>
          <p:cNvPr id="539" name="Google Shape;539;p1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Steps of AR</a:t>
            </a:r>
          </a:p>
        </p:txBody>
      </p:sp>
      <p:sp>
        <p:nvSpPr>
          <p:cNvPr id="540" name="Google Shape;540;p18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901" name="Box 901"/>
          <p:cNvSpPr/>
          <p:nvPr/>
        </p:nvSpPr>
        <p:spPr>
          <a:xfrm>
            <a:off x="640000" y="2150000"/>
            <a:ext cx="2200000" cy="10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91425" tIns="45700" rIns="91425" bIns="4570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1. Capture</a:t>
            </a:r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camera sees real world</a:t>
            </a:r>
          </a:p>
        </p:txBody>
      </p:sp>
      <p:sp>
        <p:nvSpPr>
          <p:cNvPr id="902" name="Box 902"/>
          <p:cNvSpPr/>
          <p:nvPr/>
        </p:nvSpPr>
        <p:spPr>
          <a:xfrm>
            <a:off x="3472000" y="2150000"/>
            <a:ext cx="2200000" cy="10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91425" tIns="45700" rIns="91425" bIns="4570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2. Track</a:t>
            </a:r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marker, GPS, sensors</a:t>
            </a:r>
          </a:p>
        </p:txBody>
      </p:sp>
      <p:sp>
        <p:nvSpPr>
          <p:cNvPr id="903" name="Box 903"/>
          <p:cNvSpPr/>
          <p:nvPr/>
        </p:nvSpPr>
        <p:spPr>
          <a:xfrm>
            <a:off x="6304000" y="2150000"/>
            <a:ext cx="2200000" cy="10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91425" tIns="45700" rIns="91425" bIns="4570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3. Process</a:t>
            </a:r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app finds position</a:t>
            </a:r>
          </a:p>
        </p:txBody>
      </p:sp>
      <p:sp>
        <p:nvSpPr>
          <p:cNvPr id="904" name="Box 904"/>
          <p:cNvSpPr/>
          <p:nvPr/>
        </p:nvSpPr>
        <p:spPr>
          <a:xfrm>
            <a:off x="640000" y="4000000"/>
            <a:ext cx="2200000" cy="1000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txBody>
          <a:bodyPr wrap="square" lIns="91425" tIns="45700" rIns="91425" bIns="4570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6. Learn</a:t>
            </a:r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student interacts</a:t>
            </a:r>
          </a:p>
        </p:txBody>
      </p:sp>
      <p:sp>
        <p:nvSpPr>
          <p:cNvPr id="905" name="Box 905"/>
          <p:cNvSpPr/>
          <p:nvPr/>
        </p:nvSpPr>
        <p:spPr>
          <a:xfrm>
            <a:off x="3472000" y="4000000"/>
            <a:ext cx="2200000" cy="1000000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txBody>
          <a:bodyPr wrap="square" lIns="91425" tIns="45700" rIns="91425" bIns="4570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5. Overlay</a:t>
            </a:r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mix with real view</a:t>
            </a:r>
          </a:p>
        </p:txBody>
      </p:sp>
      <p:sp>
        <p:nvSpPr>
          <p:cNvPr id="906" name="Box 906"/>
          <p:cNvSpPr/>
          <p:nvPr/>
        </p:nvSpPr>
        <p:spPr>
          <a:xfrm>
            <a:off x="6304000" y="4000000"/>
            <a:ext cx="2200000" cy="1000000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txBody>
          <a:bodyPr wrap="square" lIns="91425" tIns="45700" rIns="91425" bIns="4570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4. Digital content</a:t>
            </a:r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3D model, text, video</a:t>
            </a:r>
          </a:p>
        </p:txBody>
      </p:sp>
      <p:sp>
        <p:nvSpPr>
          <p:cNvPr id="907" name="Arrow 907"/>
          <p:cNvSpPr/>
          <p:nvPr/>
        </p:nvSpPr>
        <p:spPr>
          <a:xfrm>
            <a:off x="2930000" y="2500000"/>
            <a:ext cx="452000" cy="300000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txBody>
          <a:bodyPr wrap="square" lIns="91425" tIns="45700" rIns="91425" bIns="457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908" name="Arrow 908"/>
          <p:cNvSpPr/>
          <p:nvPr/>
        </p:nvSpPr>
        <p:spPr>
          <a:xfrm>
            <a:off x="5762000" y="2500000"/>
            <a:ext cx="452000" cy="300000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txBody>
          <a:bodyPr wrap="square" lIns="91425" tIns="45700" rIns="91425" bIns="457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909" name="Arrow 909"/>
          <p:cNvSpPr/>
          <p:nvPr/>
        </p:nvSpPr>
        <p:spPr>
          <a:xfrm>
            <a:off x="7254000" y="3240000"/>
            <a:ext cx="300000" cy="670000"/>
          </a:xfrm>
          <a:prstGeom prst="downArrow">
            <a:avLst/>
          </a:prstGeom>
          <a:solidFill>
            <a:srgbClr val="7F7F7F"/>
          </a:solidFill>
          <a:ln>
            <a:noFill/>
          </a:ln>
        </p:spPr>
        <p:txBody>
          <a:bodyPr wrap="square" lIns="91425" tIns="45700" rIns="91425" bIns="45700" anchor="ctr">
            <a:normAutofit/>
          </a:bodyPr>
          <a:lstStyle/>
          <a:p>
            <a:endParaRPr/>
          </a:p>
        </p:txBody>
      </p:sp>
      <p:sp>
        <p:nvSpPr>
          <p:cNvPr id="910" name="Arrow 910"/>
          <p:cNvSpPr/>
          <p:nvPr/>
        </p:nvSpPr>
        <p:spPr>
          <a:xfrm>
            <a:off x="5762000" y="4350000"/>
            <a:ext cx="452000" cy="300000"/>
          </a:xfrm>
          <a:prstGeom prst="leftArrow">
            <a:avLst/>
          </a:prstGeom>
          <a:solidFill>
            <a:srgbClr val="7F7F7F"/>
          </a:solidFill>
          <a:ln>
            <a:noFill/>
          </a:ln>
        </p:spPr>
        <p:txBody>
          <a:bodyPr wrap="square" lIns="91425" tIns="45700" rIns="91425" bIns="457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911" name="Arrow 911"/>
          <p:cNvSpPr/>
          <p:nvPr/>
        </p:nvSpPr>
        <p:spPr>
          <a:xfrm>
            <a:off x="2930000" y="4350000"/>
            <a:ext cx="452000" cy="300000"/>
          </a:xfrm>
          <a:prstGeom prst="leftArrow">
            <a:avLst/>
          </a:prstGeom>
          <a:solidFill>
            <a:srgbClr val="7F7F7F"/>
          </a:solidFill>
          <a:ln>
            <a:noFill/>
          </a:ln>
        </p:spPr>
        <p:txBody>
          <a:bodyPr wrap="square" lIns="91425" tIns="45700" rIns="91425" bIns="457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912" name="Note 912"/>
          <p:cNvSpPr/>
          <p:nvPr/>
        </p:nvSpPr>
        <p:spPr>
          <a:xfrm>
            <a:off x="640000" y="5300000"/>
            <a:ext cx="7864000" cy="900000"/>
          </a:xfrm>
          <a:prstGeom prst="rect">
            <a:avLst/>
          </a:prstGeom>
          <a:solidFill>
            <a:srgbClr val="EAF0FA"/>
          </a:solidFill>
          <a:ln>
            <a:noFill/>
          </a:ln>
        </p:spPr>
        <p:txBody>
          <a:bodyPr wrap="square" lIns="91425" tIns="45700" rIns="91425" bIns="457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Example: </a:t>
            </a:r>
            <a:r>
              <a:rPr lang="en-US" sz="20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point the phone at a book picture and a 3D heart appears that you can rotate.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 algn="ctr">
              <a:buNone/>
            </a:pPr>
            <a:r>
              <a:rPr lang="en-US"/>
              <a:t>3.3 AR tools and apps used</a:t>
            </a:r>
          </a:p>
        </p:txBody>
      </p:sp>
      <p:sp>
        <p:nvSpPr>
          <p:cNvPr id="539" name="Google Shape;539;p1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Devices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Smartphone or tablet camera is most common. AR headsets and smart glasses are costly and less common in schools.</a:t>
            </a:r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Software and platforms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Google ARCore (Android), Apple ARKit (iPhone), Unity with AR Foundation and Vuforia are used to build AR apps.</a:t>
            </a:r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Education apps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Apps like Merge Cube and Complete Anatomy show 3D models in real space.</a:t>
            </a:r>
          </a:p>
        </p:txBody>
      </p:sp>
      <p:sp>
        <p:nvSpPr>
          <p:cNvPr id="540" name="Google Shape;540;p18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4. Advantages / Disadvantages</a:t>
            </a:r>
            <a:endParaRPr/>
          </a:p>
        </p:txBody>
      </p:sp>
      <p:sp>
        <p:nvSpPr>
          <p:cNvPr id="546" name="Google Shape;546;p19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4038600" cy="5000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Advantages</a:t>
            </a:r>
          </a:p>
          <a:p>
            <a:pPr marL="285750" indent="-28575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Makes lessons interesting.</a:t>
            </a:r>
          </a:p>
          <a:p>
            <a:pPr marL="285750" indent="-28575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Explains difficult topics.</a:t>
            </a:r>
          </a:p>
          <a:p>
            <a:pPr marL="285750" indent="-28575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Increases student motivation.</a:t>
            </a:r>
          </a:p>
          <a:p>
            <a:pPr marL="285750" indent="-28575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Safe practice (labs, surgery).</a:t>
            </a:r>
          </a:p>
          <a:p>
            <a:pPr marL="285750" indent="-28575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Can be used anywhere with a phone.</a:t>
            </a:r>
          </a:p>
        </p:txBody>
      </p:sp>
      <p:sp>
        <p:nvSpPr>
          <p:cNvPr id="547" name="Google Shape;547;p19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913" name="Disadvantages 913"/>
          <p:cNvSpPr/>
          <p:nvPr/>
        </p:nvSpPr>
        <p:spPr>
          <a:xfrm>
            <a:off x="4648200" y="1219200"/>
            <a:ext cx="4038600" cy="500000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lIns="91425" tIns="45700" rIns="91425" bIns="457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Disadvantages</a:t>
            </a:r>
          </a:p>
          <a:p>
            <a:pPr marL="285750" indent="-28575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Devices and apps are costly.</a:t>
            </a:r>
          </a:p>
          <a:p>
            <a:pPr marL="285750" indent="-28575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Teachers need training.</a:t>
            </a:r>
          </a:p>
          <a:p>
            <a:pPr marL="285750" indent="-28575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Can distract students.</a:t>
            </a:r>
          </a:p>
          <a:p>
            <a:pPr marL="285750" indent="-28575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Needs good phones and internet.</a:t>
            </a:r>
          </a:p>
          <a:p>
            <a:pPr marL="285750" indent="-28575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Less content for local syllabus.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5. Conclusion</a:t>
            </a:r>
            <a:endParaRPr/>
          </a:p>
        </p:txBody>
      </p:sp>
      <p:sp>
        <p:nvSpPr>
          <p:cNvPr id="553" name="Google Shape;553;p20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AR adds digital content to the real world and makes learning interactive.</a:t>
            </a:r>
          </a:p>
          <a:p>
            <a:pPr marL="285750" indent="-28575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It is used in science, maths, medicine, history and more.</a:t>
            </a:r>
          </a:p>
          <a:p>
            <a:pPr marL="285750" indent="-28575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Main benefits: better understanding, interest and motivation.</a:t>
            </a:r>
          </a:p>
          <a:p>
            <a:pPr marL="285750" indent="-28575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Main challenges: cost, teacher training and distraction.</a:t>
            </a:r>
          </a:p>
          <a:p>
            <a:pPr marL="285750" indent="-28575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Future: AR with AI and cheaper devices can reach more schools.</a:t>
            </a:r>
          </a:p>
        </p:txBody>
      </p:sp>
      <p:sp>
        <p:nvSpPr>
          <p:cNvPr id="554" name="Google Shape;554;p20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6. Project Initiation</a:t>
            </a:r>
            <a:endParaRPr/>
          </a:p>
        </p:txBody>
      </p:sp>
      <p:sp>
        <p:nvSpPr>
          <p:cNvPr id="560" name="Google Shape;560;p21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Project title: </a:t>
            </a: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Augmented Reality in Education: Applications, Benefits and Challenges</a:t>
            </a:r>
          </a:p>
          <a:p>
            <a:pPr marL="285750" indent="-28575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Subject: </a:t>
            </a: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Seminar and Project Initiation (SPI – 315003)</a:t>
            </a:r>
          </a:p>
          <a:p>
            <a:pPr marL="285750" indent="-28575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Group members: </a:t>
            </a: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Deepak Bhikaji More, Manjeet Haresh Kundal, Bhumi Rajesh Mahajan</a:t>
            </a:r>
          </a:p>
          <a:p>
            <a:pPr marL="285750" indent="-28575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Next slides: </a:t>
            </a: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problem, scope, objectives, stakeholders, plan and resources.</a:t>
            </a:r>
          </a:p>
        </p:txBody>
      </p:sp>
      <p:sp>
        <p:nvSpPr>
          <p:cNvPr id="561" name="Google Shape;561;p21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 algn="ctr">
              <a:buNone/>
            </a:pPr>
            <a:r>
              <a:rPr lang="en-US" sz="3200"/>
              <a:t>6.1 Description of problem statement</a:t>
            </a:r>
          </a:p>
        </p:txBody>
      </p:sp>
      <p:sp>
        <p:nvSpPr>
          <p:cNvPr id="567" name="Google Shape;567;p22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Problem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Many topics (anatomy, space, chemistry) are hard to understand from books only.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Schools cannot always give labs, models or field trips.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Students lose interest in plain lectures.</a:t>
            </a:r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Problem statement</a:t>
            </a:r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To study how Augmented Reality can be used in education, with its applications, benefits and challenges.</a:t>
            </a:r>
          </a:p>
        </p:txBody>
      </p:sp>
      <p:sp>
        <p:nvSpPr>
          <p:cNvPr id="568" name="Google Shape;568;p22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 algn="ctr">
              <a:buNone/>
            </a:pPr>
            <a:r>
              <a:rPr lang="en-US"/>
              <a:t>6.2 Scope and objectives</a:t>
            </a:r>
          </a:p>
        </p:txBody>
      </p:sp>
      <p:sp>
        <p:nvSpPr>
          <p:cNvPr id="574" name="Google Shape;574;p23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Objectives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To understand what AR is and how it works.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To study AR applications in different subjects.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To find benefits of AR for students and teachers.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To list challenges and possible solutions.</a:t>
            </a:r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Scope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Covers AR use in schools, polytechnics and colleges.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Can be extended to a simple AR demo app later.</a:t>
            </a:r>
          </a:p>
        </p:txBody>
      </p:sp>
      <p:sp>
        <p:nvSpPr>
          <p:cNvPr id="575" name="Google Shape;575;p23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 algn="ctr">
              <a:buNone/>
            </a:pPr>
            <a:r>
              <a:rPr lang="en-US"/>
              <a:t>6.3 Stake holder</a:t>
            </a:r>
          </a:p>
        </p:txBody>
      </p:sp>
      <p:sp>
        <p:nvSpPr>
          <p:cNvPr id="582" name="Google Shape;582;p24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graphicFrame>
        <p:nvGraphicFramePr>
          <p:cNvPr id="914" name="Table 914"/>
          <p:cNvGraphicFramePr/>
          <p:nvPr>
            <p:extLst>
              <p:ext uri="{D42A27DB-BD31-4B8C-83A1-F6EECF244321}">
                <p14:modId xmlns:p14="http://schemas.microsoft.com/office/powerpoint/2010/main" val="2547298123"/>
              </p:ext>
            </p:extLst>
          </p:nvPr>
        </p:nvGraphicFramePr>
        <p:xfrm>
          <a:off x="640000" y="1582880"/>
          <a:ext cx="7864000" cy="4560000"/>
        </p:xfrm>
        <a:graphic>
          <a:graphicData uri="http://schemas.openxmlformats.org/drawingml/2006/table">
            <a:tbl>
              <a:tblPr firstRow="1"/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b="1" i="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Stakeholder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How they are related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b="1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Students (learners)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Learn using AR lessons and apps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b="1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Teachers / institutes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AR in class; need training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 app developers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Make AR content and education apps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Project guide / teacher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Guides and checks our seminar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HOD / Department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b="0" i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Gives approval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 algn="ctr">
              <a:buNone/>
            </a:pPr>
            <a:r>
              <a:rPr lang="en-US"/>
              <a:t>6.4 Seminar execution plan</a:t>
            </a:r>
          </a:p>
        </p:txBody>
      </p:sp>
      <p:sp>
        <p:nvSpPr>
          <p:cNvPr id="589" name="Google Shape;589;p25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graphicFrame>
        <p:nvGraphicFramePr>
          <p:cNvPr id="902" name="Table 902"/>
          <p:cNvGraphicFramePr/>
          <p:nvPr/>
        </p:nvGraphicFramePr>
        <p:xfrm>
          <a:off x="640000" y="1330000"/>
          <a:ext cx="7864000" cy="4950000"/>
        </p:xfrm>
        <a:graphic>
          <a:graphicData uri="http://schemas.openxmlformats.org/drawingml/2006/table">
            <a:tbl>
              <a:tblPr firstRow="1"/>
              <a:tblGrid>
                <a:gridCol w="1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Work to do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Time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Select topic and study AR basics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Week 1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Literature survey (read papers)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Week 2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Study AR applications in education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Week 3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Collect benefits and challenges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Week 4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Study AR tools (ARCore, ARKit, Unity)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Week 5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Try a simple AR app / demo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Week 6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Prepare content and diagrams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Week 7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Make the presentation slides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Week 8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Practice and corrections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Week 9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Make report and final presentation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Week 10</a:t>
                      </a:r>
                    </a:p>
                  </a:txBody>
                  <a:tcPr marL="91450" marR="91450" marT="45725" marB="45725" anchor="ctr">
                    <a:lnL w="12700">
                      <a:solidFill>
                        <a:schemeClr val="accent1"/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 algn="ctr">
              <a:buNone/>
            </a:pPr>
            <a:r>
              <a:rPr lang="en-US" sz="3200"/>
              <a:t>6.5 Platform / Equipment / Resources</a:t>
            </a:r>
          </a:p>
        </p:txBody>
      </p:sp>
      <p:sp>
        <p:nvSpPr>
          <p:cNvPr id="595" name="Google Shape;595;p26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Hardware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Laptop / computer with internet and a smartphone with camera</a:t>
            </a:r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Software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Unity with AR Foundation (for a simple demo)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Google ARCore / Apple ARKit supported phone</a:t>
            </a:r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Study material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Research papers (Google Scholar, IEEE Xplore)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5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Free 3D models (Sketchfab)</a:t>
            </a:r>
          </a:p>
        </p:txBody>
      </p:sp>
      <p:sp>
        <p:nvSpPr>
          <p:cNvPr id="596" name="Google Shape;596;p26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Bibliography</a:t>
            </a:r>
            <a:endParaRPr/>
          </a:p>
        </p:txBody>
      </p:sp>
      <p:sp>
        <p:nvSpPr>
          <p:cNvPr id="602" name="Google Shape;602;p27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Books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3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Augmented Reality: Principles and Practice – Dieter Schmalstieg and Tobias Höllerer, Addison-Wesley.</a:t>
            </a:r>
          </a:p>
          <a:p>
            <a:pPr marL="285750" indent="-2857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3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Augmented Learning: Research and Design of Mobile Educational Games – Eric Klopfer, MIT Press.</a:t>
            </a:r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Websites</a:t>
            </a:r>
          </a:p>
          <a:p>
            <a:pPr marL="285750" indent="-285750">
              <a:lnSpc>
                <a:spcPct val="150000"/>
              </a:lnSpc>
              <a:spcBef>
                <a:spcPts val="500"/>
              </a:spcBef>
              <a:buSzPct val="100000"/>
            </a:pPr>
            <a:r>
              <a:rPr lang="en-US" sz="2300" dirty="0">
                <a:hlinkClick r:id="rId3"/>
              </a:rPr>
              <a:t>https://developers.google.com/ar</a:t>
            </a:r>
            <a:endParaRPr lang="en-US" sz="2300" dirty="0"/>
          </a:p>
          <a:p>
            <a:pPr marL="285750" indent="-285750">
              <a:lnSpc>
                <a:spcPct val="150000"/>
              </a:lnSpc>
              <a:spcBef>
                <a:spcPts val="500"/>
              </a:spcBef>
              <a:buSzPct val="100000"/>
            </a:pPr>
            <a:r>
              <a:rPr lang="en-US" sz="2300" dirty="0">
                <a:hlinkClick r:id="rId4"/>
              </a:rPr>
              <a:t>https://developer.apple.com/augmented-reality/</a:t>
            </a:r>
            <a:endParaRPr lang="en-US" sz="2300" dirty="0"/>
          </a:p>
          <a:p>
            <a:pPr marL="285750" indent="-285750">
              <a:lnSpc>
                <a:spcPct val="150000"/>
              </a:lnSpc>
              <a:spcBef>
                <a:spcPts val="500"/>
              </a:spcBef>
              <a:buSzPct val="100000"/>
            </a:pPr>
            <a:r>
              <a:rPr lang="en-US" sz="2300" dirty="0">
                <a:hlinkClick r:id="rId5"/>
              </a:rPr>
              <a:t>https://en.wikipedia.org/wiki/Augmented_reality</a:t>
            </a:r>
            <a:endParaRPr lang="en-US" sz="2300" dirty="0"/>
          </a:p>
        </p:txBody>
      </p:sp>
      <p:sp>
        <p:nvSpPr>
          <p:cNvPr id="603" name="Google Shape;603;p27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 dirty="0"/>
              <a:t>References </a:t>
            </a:r>
            <a:endParaRPr dirty="0"/>
          </a:p>
        </p:txBody>
      </p:sp>
      <p:sp>
        <p:nvSpPr>
          <p:cNvPr id="609" name="Google Shape;609;p28"/>
          <p:cNvSpPr txBox="1">
            <a:spLocks noGrp="1"/>
          </p:cNvSpPr>
          <p:nvPr>
            <p:ph type="body" idx="1"/>
          </p:nvPr>
        </p:nvSpPr>
        <p:spPr>
          <a:xfrm>
            <a:off x="456178" y="138745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indent="-457200" algn="l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P. Milgram and F. Kishino, "A taxonomy of mixed reality visual displays," IEICE Trans. Inf. Syst., vol. E77-D, no. 12, pp. 1321–1329, Dec. 1994.</a:t>
            </a:r>
          </a:p>
          <a:p>
            <a:pPr marL="457200" indent="-457200" algn="l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R. T. Azuma, "A survey of augmented reality," Presence: Teleoperators Virtual Environ., vol. 6, no. 4, pp. 355–385, Aug. 1997.</a:t>
            </a:r>
          </a:p>
          <a:p>
            <a:pPr marL="457200" indent="-457200" algn="l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M. Billinghurst and H. Kato, "Collaborative augmented reality," Commun. ACM, vol. 45, no. 7, pp. 64–70, Jul. 2002.</a:t>
            </a:r>
          </a:p>
          <a:p>
            <a:pPr marL="457200" indent="-457200" algn="l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H. Kaufmann and D. </a:t>
            </a:r>
            <a:r>
              <a:rPr lang="en-US" sz="1500" b="0" i="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Schmalstieg</a:t>
            </a: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, "Mathematics and geometry education with collaborative augmented reality," </a:t>
            </a:r>
            <a:r>
              <a:rPr lang="en-US" sz="1500" b="0" i="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Comput</a:t>
            </a: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. Graph., vol. 27, no. 3, pp. 339–345, 2003.</a:t>
            </a:r>
          </a:p>
          <a:p>
            <a:pPr marL="457200" indent="-457200" algn="l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M. Dunleavy, C. Dede, and R. Mitchell, "Affordances and limitations of immersive participatory augmented reality simulations for teaching and learning," J. Sci. Educ. Technol., vol. 18, no. 1, pp. 7–22, Feb. 2009.</a:t>
            </a:r>
          </a:p>
          <a:p>
            <a:pPr marL="457200" indent="-457200" algn="l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H.-K. Wu, S. W.-Y. Lee, H.-Y. Chang, and J.-C. Liang, "Current status, opportunities and challenges of augmented reality in education," </a:t>
            </a:r>
            <a:r>
              <a:rPr lang="en-US" sz="1500" b="0" i="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Comput</a:t>
            </a: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. Educ., vol. 62, pp. 41–49, Mar. 2013.</a:t>
            </a:r>
          </a:p>
          <a:p>
            <a:pPr marL="457200" indent="-457200" algn="l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J. Bacca, S. </a:t>
            </a:r>
            <a:r>
              <a:rPr lang="en-US" sz="1500" b="0" i="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Baldiris</a:t>
            </a: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, R. </a:t>
            </a:r>
            <a:r>
              <a:rPr lang="en-US" sz="1500" b="0" i="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Fabregat</a:t>
            </a: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, S. Graf, and Kinshuk, "Augmented reality trends in education: A systematic review of research and applications," Educ. Technol. Soc., vol. 17, no. 4, pp. 133–149, 2014.</a:t>
            </a:r>
          </a:p>
          <a:p>
            <a:pPr marL="457200" indent="-457200" algn="l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I. Radu, "Augmented reality in education: A meta-review and cross-media analysis," Pers. Ubiquitous </a:t>
            </a:r>
            <a:r>
              <a:rPr lang="en-US" sz="1500" b="0" i="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Comput</a:t>
            </a: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., vol. 18, no. 6, pp. 1533–1543, Aug. 2014.</a:t>
            </a:r>
          </a:p>
        </p:txBody>
      </p:sp>
      <p:sp>
        <p:nvSpPr>
          <p:cNvPr id="610" name="Google Shape;610;p28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 dirty="0"/>
              <a:t>References </a:t>
            </a:r>
            <a:endParaRPr dirty="0"/>
          </a:p>
        </p:txBody>
      </p:sp>
      <p:sp>
        <p:nvSpPr>
          <p:cNvPr id="609" name="Google Shape;609;p28"/>
          <p:cNvSpPr txBox="1">
            <a:spLocks noGrp="1"/>
          </p:cNvSpPr>
          <p:nvPr>
            <p:ph type="body" idx="1"/>
          </p:nvPr>
        </p:nvSpPr>
        <p:spPr>
          <a:xfrm>
            <a:off x="456178" y="138745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indent="-457200" algn="l">
              <a:spcBef>
                <a:spcPts val="0"/>
              </a:spcBef>
              <a:spcAft>
                <a:spcPts val="0"/>
              </a:spcAft>
              <a:buFont typeface="+mj-lt"/>
              <a:buAutoNum type="arabicPeriod" startAt="9"/>
            </a:pP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M. </a:t>
            </a:r>
            <a:r>
              <a:rPr lang="en-US" sz="1500" b="0" i="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Diegmann</a:t>
            </a: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, M. Schmidt-Kraepelin, S. </a:t>
            </a:r>
            <a:r>
              <a:rPr lang="en-US" sz="1500" b="0" i="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Eynden</a:t>
            </a: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, and D. Basten, "Benefits of augmented reality in educational environments – A systematic literature review," in Proc. 12th Int. Conf. </a:t>
            </a:r>
            <a:r>
              <a:rPr lang="en-US" sz="1500" b="0" i="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Wirtschaftsinformatik</a:t>
            </a: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, Osnabrück, Germany, 2015, pp. 1542–1556.</a:t>
            </a:r>
          </a:p>
          <a:p>
            <a:pPr marL="457200" indent="-457200" algn="l">
              <a:spcBef>
                <a:spcPts val="600"/>
              </a:spcBef>
              <a:spcAft>
                <a:spcPts val="0"/>
              </a:spcAft>
              <a:buFont typeface="+mj-lt"/>
              <a:buAutoNum type="arabicPeriod" startAt="9"/>
            </a:pP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M. </a:t>
            </a:r>
            <a:r>
              <a:rPr lang="en-US" sz="1500" b="0" i="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Akçayır</a:t>
            </a: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 and G. </a:t>
            </a:r>
            <a:r>
              <a:rPr lang="en-US" sz="1500" b="0" i="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Akçayır</a:t>
            </a: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, "Advantages and challenges associated with augmented reality for education: A systematic review of the literature," Educ. Res. Rev., vol. 20, pp. 1–11, Feb. 2017.</a:t>
            </a:r>
          </a:p>
          <a:p>
            <a:pPr marL="457200" indent="-457200" algn="l">
              <a:spcBef>
                <a:spcPts val="600"/>
              </a:spcBef>
              <a:spcAft>
                <a:spcPts val="0"/>
              </a:spcAft>
              <a:buFont typeface="+mj-lt"/>
              <a:buAutoNum type="arabicPeriod" startAt="9"/>
            </a:pP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M.-B. Ibáñez and C. Delgado-Kloos, "Augmented reality for STEM learning: A systematic review," </a:t>
            </a:r>
            <a:r>
              <a:rPr lang="en-US" sz="1500" b="0" i="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Comput</a:t>
            </a: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. Educ., vol. 123, pp. 109–123, Aug. 2018.</a:t>
            </a:r>
          </a:p>
          <a:p>
            <a:pPr marL="457200" indent="-457200" algn="l">
              <a:spcBef>
                <a:spcPts val="600"/>
              </a:spcBef>
              <a:spcAft>
                <a:spcPts val="0"/>
              </a:spcAft>
              <a:buFont typeface="+mj-lt"/>
              <a:buAutoNum type="arabicPeriod" startAt="9"/>
            </a:pP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J. Garzón, J. Pavón, and S. </a:t>
            </a:r>
            <a:r>
              <a:rPr lang="en-US" sz="1500" b="0" i="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Baldiris</a:t>
            </a: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, "Systematic review and meta-analysis of augmented reality in educational settings," Virtual Reality, vol. 23, no. 4, pp. 447–459, Dec. 2019.</a:t>
            </a:r>
          </a:p>
          <a:p>
            <a:pPr marL="457200" indent="-457200" algn="l">
              <a:spcBef>
                <a:spcPts val="600"/>
              </a:spcBef>
              <a:spcAft>
                <a:spcPts val="0"/>
              </a:spcAft>
              <a:buFont typeface="+mj-lt"/>
              <a:buAutoNum type="arabicPeriod" startAt="9"/>
            </a:pP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Google, "</a:t>
            </a:r>
            <a:r>
              <a:rPr lang="en-US" sz="1500" b="0" i="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ARCore</a:t>
            </a: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: Build new augmented reality experiences." [Online]. Available: https://developers.google.com/ar. [Accessed: Oct. 16, 2026].</a:t>
            </a:r>
          </a:p>
          <a:p>
            <a:pPr marL="457200" indent="-457200" algn="l">
              <a:spcBef>
                <a:spcPts val="600"/>
              </a:spcBef>
              <a:spcAft>
                <a:spcPts val="0"/>
              </a:spcAft>
              <a:buFont typeface="+mj-lt"/>
              <a:buAutoNum type="arabicPeriod" startAt="9"/>
            </a:pP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Apple Inc., "Augmented reality – Apple Developer." [Online]. Available: https://developer.apple.com/augmented-reality/. [Accessed: Oct. 16, 2026].</a:t>
            </a:r>
          </a:p>
          <a:p>
            <a:pPr marL="457200" indent="-457200" algn="l">
              <a:spcBef>
                <a:spcPts val="600"/>
              </a:spcBef>
              <a:spcAft>
                <a:spcPts val="0"/>
              </a:spcAft>
              <a:buFont typeface="+mj-lt"/>
              <a:buAutoNum type="arabicPeriod" startAt="9"/>
            </a:pPr>
            <a:r>
              <a:rPr lang="en-US" sz="1500" b="0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Unity Technologies, "AR Foundation," Unity Documentation. [Online]. Available: https://docs.unity3d.com/Packages/com.unity.xr.arfoundation@latest. [Accessed: Oct. 16, 2026].</a:t>
            </a:r>
          </a:p>
        </p:txBody>
      </p:sp>
      <p:sp>
        <p:nvSpPr>
          <p:cNvPr id="610" name="Google Shape;610;p28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9"/>
          <p:cNvSpPr/>
          <p:nvPr/>
        </p:nvSpPr>
        <p:spPr>
          <a:xfrm>
            <a:off x="1447801" y="2810112"/>
            <a:ext cx="6248400" cy="12003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  <p:sp>
        <p:nvSpPr>
          <p:cNvPr id="616" name="Google Shape;616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2181</Words>
  <Application>Microsoft Office PowerPoint</Application>
  <PresentationFormat>On-screen Show (4:3)</PresentationFormat>
  <Paragraphs>284</Paragraphs>
  <Slides>22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Office Theme</vt:lpstr>
      <vt:lpstr>PowerPoint Presentation</vt:lpstr>
      <vt:lpstr>Contents</vt:lpstr>
      <vt:lpstr>Abstract</vt:lpstr>
      <vt:lpstr>1. Introduction</vt:lpstr>
      <vt:lpstr>2. Literature Survey </vt:lpstr>
      <vt:lpstr>2. Literature Survey </vt:lpstr>
      <vt:lpstr>3. Information to seminar topic</vt:lpstr>
      <vt:lpstr>3.1 Applications of AR in education</vt:lpstr>
      <vt:lpstr>3.2 How AR works in a classroom</vt:lpstr>
      <vt:lpstr>3.3 AR tools and apps used</vt:lpstr>
      <vt:lpstr>4. Advantages / Disadvantages</vt:lpstr>
      <vt:lpstr>5. Conclusion</vt:lpstr>
      <vt:lpstr>6. Project Initiation</vt:lpstr>
      <vt:lpstr>6.1 Description of problem statement</vt:lpstr>
      <vt:lpstr>6.2 Scope and objectives</vt:lpstr>
      <vt:lpstr>6.3 Stake holder</vt:lpstr>
      <vt:lpstr>6.4 Seminar execution plan</vt:lpstr>
      <vt:lpstr>6.5 Platform / Equipment / Resources</vt:lpstr>
      <vt:lpstr>Bibliography</vt:lpstr>
      <vt:lpstr>References 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Manish Patil</cp:lastModifiedBy>
  <cp:revision>2</cp:revision>
  <dcterms:modified xsi:type="dcterms:W3CDTF">2026-10-16T17:00:08Z</dcterms:modified>
</cp:coreProperties>
</file>